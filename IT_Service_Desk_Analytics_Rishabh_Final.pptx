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charts/chart5.xml" ContentType="application/vnd.openxmlformats-officedocument.drawingml.chart+xml"/>
  <Override PartName="/ppt/notesSlides/notesSlide8.xml" ContentType="application/vnd.openxmlformats-officedocument.presentationml.notesSlide+xml"/>
  <Override PartName="/ppt/charts/chart6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KUR KUMAR" userId="ce42c41cec9a3d80" providerId="LiveId" clId="{DEDF1D91-D2AD-4B5A-90B4-11BF15AAF537}"/>
    <pc:docChg chg="undo custSel modSld">
      <pc:chgData name="ANKUR KUMAR" userId="ce42c41cec9a3d80" providerId="LiveId" clId="{DEDF1D91-D2AD-4B5A-90B4-11BF15AAF537}" dt="2026-06-26T18:10:28.623" v="15" actId="14100"/>
      <pc:docMkLst>
        <pc:docMk/>
      </pc:docMkLst>
      <pc:sldChg chg="addSp delSp modSp mod">
        <pc:chgData name="ANKUR KUMAR" userId="ce42c41cec9a3d80" providerId="LiveId" clId="{DEDF1D91-D2AD-4B5A-90B4-11BF15AAF537}" dt="2026-06-26T18:10:28.623" v="15" actId="14100"/>
        <pc:sldMkLst>
          <pc:docMk/>
          <pc:sldMk cId="0" sldId="265"/>
        </pc:sldMkLst>
        <pc:picChg chg="add del">
          <ac:chgData name="ANKUR KUMAR" userId="ce42c41cec9a3d80" providerId="LiveId" clId="{DEDF1D91-D2AD-4B5A-90B4-11BF15AAF537}" dt="2026-06-26T18:08:57.655" v="2" actId="22"/>
          <ac:picMkLst>
            <pc:docMk/>
            <pc:sldMk cId="0" sldId="265"/>
            <ac:picMk id="9" creationId="{E173D11A-3772-AB1B-5E20-880F45FECA7E}"/>
          </ac:picMkLst>
        </pc:picChg>
        <pc:picChg chg="del">
          <ac:chgData name="ANKUR KUMAR" userId="ce42c41cec9a3d80" providerId="LiveId" clId="{DEDF1D91-D2AD-4B5A-90B4-11BF15AAF537}" dt="2026-06-26T18:08:54.098" v="0" actId="21"/>
          <ac:picMkLst>
            <pc:docMk/>
            <pc:sldMk cId="0" sldId="265"/>
            <ac:picMk id="10" creationId="{95B217F1-AD1B-2F5C-7214-FC781D9E9A13}"/>
          </ac:picMkLst>
        </pc:picChg>
        <pc:picChg chg="add mod">
          <ac:chgData name="ANKUR KUMAR" userId="ce42c41cec9a3d80" providerId="LiveId" clId="{DEDF1D91-D2AD-4B5A-90B4-11BF15AAF537}" dt="2026-06-26T18:10:28.623" v="15" actId="14100"/>
          <ac:picMkLst>
            <pc:docMk/>
            <pc:sldMk cId="0" sldId="265"/>
            <ac:picMk id="12" creationId="{416017A8-C5D7-A647-0B66-131AE1A57807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1E293B"/>
                </a:solidFill>
                <a:latin typeface="Arial"/>
              </a:rPr>
              <a:t>Number of Tickets per Year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Tickets</c:v>
                </c:pt>
              </c:strCache>
            </c:strRef>
          </c:tx>
          <c:spPr>
            <a:solidFill>
              <a:srgbClr val="0A939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3F45-4874-AF1C-DF833801E1D8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3F45-4874-AF1C-DF833801E1D8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3F45-4874-AF1C-DF833801E1D8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3F45-4874-AF1C-DF833801E1D8}"/>
              </c:ext>
            </c:extLst>
          </c:dPt>
          <c:dPt>
            <c:idx val="4"/>
            <c:invertIfNegative val="0"/>
            <c:bubble3D val="0"/>
            <c:spPr>
              <a:solidFill>
                <a:srgbClr val="EE9B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3F45-4874-AF1C-DF833801E1D8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13051</c:v>
                </c:pt>
                <c:pt idx="1">
                  <c:v>14915</c:v>
                </c:pt>
                <c:pt idx="2">
                  <c:v>18954</c:v>
                </c:pt>
                <c:pt idx="3">
                  <c:v>21490</c:v>
                </c:pt>
                <c:pt idx="4">
                  <c:v>29088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3F45-4874-AF1C-DF833801E1D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0F4F8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1E293B"/>
                </a:solidFill>
                <a:latin typeface="Arial"/>
              </a:rPr>
              <a:t>Share of Total Tickets (97,498)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Tickets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A93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22DE-4964-A72F-F67932201A2D}"/>
              </c:ext>
            </c:extLst>
          </c:dPt>
          <c:dPt>
            <c:idx val="1"/>
            <c:bubble3D val="0"/>
            <c:spPr>
              <a:solidFill>
                <a:srgbClr val="EE9B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2DE-4964-A72F-F67932201A2D}"/>
              </c:ext>
            </c:extLst>
          </c:dPt>
          <c:dPt>
            <c:idx val="2"/>
            <c:bubble3D val="0"/>
            <c:spPr>
              <a:solidFill>
                <a:srgbClr val="94D2B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2DE-4964-A72F-F67932201A2D}"/>
              </c:ext>
            </c:extLst>
          </c:dPt>
          <c:dPt>
            <c:idx val="3"/>
            <c:bubble3D val="0"/>
            <c:spPr>
              <a:solidFill>
                <a:srgbClr val="E9D8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22DE-4964-A72F-F67932201A2D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2DE-4964-A72F-F67932201A2D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2DE-4964-A72F-F67932201A2D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22DE-4964-A72F-F67932201A2D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22DE-4964-A72F-F67932201A2D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System</c:v>
                </c:pt>
                <c:pt idx="1">
                  <c:v>Login Access</c:v>
                </c:pt>
                <c:pt idx="2">
                  <c:v>Software</c:v>
                </c:pt>
                <c:pt idx="3">
                  <c:v>Hardware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39002</c:v>
                </c:pt>
                <c:pt idx="1">
                  <c:v>29193</c:v>
                </c:pt>
                <c:pt idx="2">
                  <c:v>19570</c:v>
                </c:pt>
                <c:pt idx="3">
                  <c:v>9733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22DE-4964-A72F-F67932201A2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1E293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0F4F8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1E293B"/>
                </a:solidFill>
                <a:latin typeface="Arial"/>
              </a:rPr>
              <a:t>Average Resolution Time (Days)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Days</c:v>
                </c:pt>
              </c:strCache>
            </c:strRef>
          </c:tx>
          <c:spPr>
            <a:solidFill>
              <a:srgbClr val="EE9B0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6AF-4B9C-B8EE-577EE0F13885}"/>
              </c:ext>
            </c:extLst>
          </c:dPt>
          <c:dPt>
            <c:idx val="1"/>
            <c:invertIfNegative val="0"/>
            <c:bubble3D val="0"/>
            <c:spPr>
              <a:solidFill>
                <a:srgbClr val="0A93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6AF-4B9C-B8EE-577EE0F13885}"/>
              </c:ext>
            </c:extLst>
          </c:dPt>
          <c:dPt>
            <c:idx val="2"/>
            <c:invertIfNegative val="0"/>
            <c:bubble3D val="0"/>
            <c:spPr>
              <a:solidFill>
                <a:srgbClr val="94D2B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6AF-4B9C-B8EE-577EE0F13885}"/>
              </c:ext>
            </c:extLst>
          </c:dPt>
          <c:dPt>
            <c:idx val="3"/>
            <c:invertIfNegative val="0"/>
            <c:bubble3D val="0"/>
            <c:spPr>
              <a:solidFill>
                <a:srgbClr val="94D2B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56AF-4B9C-B8EE-577EE0F13885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Hardware</c:v>
                </c:pt>
                <c:pt idx="1">
                  <c:v>System</c:v>
                </c:pt>
                <c:pt idx="2">
                  <c:v>Software</c:v>
                </c:pt>
                <c:pt idx="3">
                  <c:v>Login Access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7.62</c:v>
                </c:pt>
                <c:pt idx="1">
                  <c:v>6.62</c:v>
                </c:pt>
                <c:pt idx="2">
                  <c:v>5.24</c:v>
                </c:pt>
                <c:pt idx="3">
                  <c:v>0.31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56AF-4B9C-B8EE-577EE0F1388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0F4F8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1E293B"/>
                </a:solidFill>
                <a:latin typeface="Arial"/>
              </a:rPr>
              <a:t>Top 5 Agents by Satisfaction Score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CSAT</c:v>
                </c:pt>
              </c:strCache>
            </c:strRef>
          </c:tx>
          <c:spPr>
            <a:solidFill>
              <a:srgbClr val="0A939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DFE-487A-ACBB-85B5895E2627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DDFE-487A-ACBB-85B5895E2627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DDFE-487A-ACBB-85B5895E2627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DDFE-487A-ACBB-85B5895E2627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DDFE-487A-ACBB-85B5895E2627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Jesus Contreras</c:v>
                </c:pt>
                <c:pt idx="1">
                  <c:v>Aurelio Tanori</c:v>
                </c:pt>
                <c:pt idx="2">
                  <c:v>Elena Velez</c:v>
                </c:pt>
                <c:pt idx="3">
                  <c:v>Barbara Grijalva</c:v>
                </c:pt>
                <c:pt idx="4">
                  <c:v>Melinda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4.45</c:v>
                </c:pt>
                <c:pt idx="1">
                  <c:v>4.43</c:v>
                </c:pt>
                <c:pt idx="2">
                  <c:v>4.41</c:v>
                </c:pt>
                <c:pt idx="3">
                  <c:v>4.38</c:v>
                </c:pt>
                <c:pt idx="4">
                  <c:v>4.3600000000000003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DDFE-487A-ACBB-85B5895E262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0F4F8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1E293B"/>
                </a:solidFill>
                <a:latin typeface="Arial"/>
              </a:rPr>
              <a:t>Issue Type Distribution (97,498 total)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Issues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A93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476E-4BB4-BCB3-5C95FF3363A7}"/>
              </c:ext>
            </c:extLst>
          </c:dPt>
          <c:dPt>
            <c:idx val="1"/>
            <c:bubble3D val="0"/>
            <c:spPr>
              <a:solidFill>
                <a:srgbClr val="EE9B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76E-4BB4-BCB3-5C95FF3363A7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76E-4BB4-BCB3-5C95FF3363A7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76E-4BB4-BCB3-5C95FF3363A7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IT Request</c:v>
                </c:pt>
                <c:pt idx="1">
                  <c:v>IT Error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73220</c:v>
                </c:pt>
                <c:pt idx="1">
                  <c:v>24278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76E-4BB4-BCB3-5C95FF3363A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1E293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0F4F8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1E293B"/>
                </a:solidFill>
                <a:latin typeface="Arial"/>
              </a:rPr>
              <a:t>Yearly Average CSAT Score (out of 5)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CSAT</c:v>
                </c:pt>
              </c:strCache>
            </c:strRef>
          </c:tx>
          <c:spPr>
            <a:ln w="38100" cap="flat">
              <a:solidFill>
                <a:srgbClr val="0A93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A9396"/>
              </a:solidFill>
              <a:ln w="9525" cap="flat">
                <a:solidFill>
                  <a:srgbClr val="0A9396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3.98</c:v>
                </c:pt>
                <c:pt idx="1">
                  <c:v>4.0199999999999996</c:v>
                </c:pt>
                <c:pt idx="2">
                  <c:v>4.08</c:v>
                </c:pt>
                <c:pt idx="3">
                  <c:v>4.12</c:v>
                </c:pt>
                <c:pt idx="4">
                  <c:v>4.16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DF33-46E3-877A-784F084E299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0F4F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97984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0A9396">
              <a:alpha val="15000"/>
            </a:srgbClr>
          </a:solidFill>
          <a:ln w="12700">
            <a:solidFill>
              <a:srgbClr val="0A9396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1440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Service Desk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Report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IT Ticket Dataset (2016–2020)  ·  Prepared by: Rishabh Singh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657600"/>
            <a:ext cx="1920240" cy="1005840"/>
          </a:xfrm>
          <a:prstGeom prst="rect">
            <a:avLst/>
          </a:prstGeom>
          <a:solidFill>
            <a:srgbClr val="007F83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7033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97,498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8640" y="42062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Tickets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51760" y="3657600"/>
            <a:ext cx="1920240" cy="1005840"/>
          </a:xfrm>
          <a:prstGeom prst="rect">
            <a:avLst/>
          </a:prstGeom>
          <a:solidFill>
            <a:srgbClr val="007F83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1760" y="37033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651760" y="42062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Agents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3657600"/>
            <a:ext cx="1920240" cy="1005840"/>
          </a:xfrm>
          <a:prstGeom prst="rect">
            <a:avLst/>
          </a:prstGeom>
          <a:solidFill>
            <a:srgbClr val="007F83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37033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754880" y="42062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0" y="3657600"/>
            <a:ext cx="1920240" cy="1005840"/>
          </a:xfrm>
          <a:prstGeom prst="rect">
            <a:avLst/>
          </a:prstGeom>
          <a:solidFill>
            <a:srgbClr val="007F83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0" y="37033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 / 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858000" y="42062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CSAT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828800" cy="292608"/>
          </a:xfrm>
          <a:prstGeom prst="roundRect">
            <a:avLst>
              <a:gd name="adj" fmla="val 15625"/>
            </a:avLst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Data Overview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2743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25880"/>
            <a:ext cx="5120640" cy="1417320"/>
          </a:xfrm>
          <a:prstGeom prst="rect">
            <a:avLst/>
          </a:prstGeom>
          <a:solidFill>
            <a:srgbClr val="007F83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716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664208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IT ticket volumes grow year-on-year, the service desk needs to understand where bottlenecks exist, which agents need support, and how to invest resources to improve resolution speed and satisfaction.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834640"/>
            <a:ext cx="5120640" cy="1920240"/>
          </a:xfrm>
          <a:prstGeom prst="rect">
            <a:avLst/>
          </a:prstGeom>
          <a:solidFill>
            <a:srgbClr val="0F2535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90779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PERFORMED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3218688"/>
            <a:ext cx="48463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4,836 'Mayor' → 'Major' errors in Severity column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missing Agent Names using XLOOKUP from IT Agents sheet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all 16 attributes — no other column-level issues found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806440" y="1325880"/>
            <a:ext cx="2926080" cy="749808"/>
          </a:xfrm>
          <a:prstGeom prst="rect">
            <a:avLst/>
          </a:prstGeom>
          <a:solidFill>
            <a:srgbClr val="007F83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97880" y="136245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97,498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897880" y="17465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Tickets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806440" y="2240280"/>
            <a:ext cx="2926080" cy="749808"/>
          </a:xfrm>
          <a:prstGeom prst="rect">
            <a:avLst/>
          </a:prstGeom>
          <a:solidFill>
            <a:srgbClr val="007F83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97880" y="227685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2016–2020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897880" y="26609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Range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806440" y="3154680"/>
            <a:ext cx="2926080" cy="749808"/>
          </a:xfrm>
          <a:prstGeom prst="rect">
            <a:avLst/>
          </a:prstGeom>
          <a:solidFill>
            <a:srgbClr val="007F83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97880" y="319125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897880" y="35753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806440" y="4069080"/>
            <a:ext cx="2926080" cy="749808"/>
          </a:xfrm>
          <a:prstGeom prst="rect">
            <a:avLst/>
          </a:prstGeom>
          <a:solidFill>
            <a:srgbClr val="007F83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7880" y="410565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897880" y="44897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Agents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828800" cy="292608"/>
          </a:xfrm>
          <a:prstGeom prst="roundRect">
            <a:avLst>
              <a:gd name="adj" fmla="val 15625"/>
            </a:avLst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— VOLUME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Volume Growth: 2016–2020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2743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graphicFrame>
        <p:nvGraphicFramePr>
          <p:cNvPr id="6" name="Chart 0"/>
          <p:cNvGraphicFramePr/>
          <p:nvPr/>
        </p:nvGraphicFramePr>
        <p:xfrm>
          <a:off x="365760" y="1280160"/>
          <a:ext cx="512064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669280" y="1280160"/>
            <a:ext cx="3108960" cy="3474720"/>
          </a:xfrm>
          <a:prstGeom prst="rect">
            <a:avLst/>
          </a:prstGeom>
          <a:solidFill>
            <a:srgbClr val="0D1B2A">
              <a:alpha val="95000"/>
            </a:srgbClr>
          </a:solidFill>
          <a:ln w="12700">
            <a:solidFill>
              <a:srgbClr val="0A93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806440" y="13716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806440" y="1691640"/>
            <a:ext cx="2834640" cy="1828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806440" y="1783080"/>
            <a:ext cx="28346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123% growth over 5 years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(13K → 29K tickets)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 saw biggest single-year jump — +35% vs 2019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resolution time held stable at ~4.5 days despite volume doubling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CSAT improved 3.98 → 4.16 even as workload doubled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Team is coping but automation is urgently needed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828800" cy="292608"/>
          </a:xfrm>
          <a:prstGeom prst="roundRect">
            <a:avLst>
              <a:gd name="adj" fmla="val 15625"/>
            </a:avLst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— CATEGORIES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Distribution by Category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2743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graphicFrame>
        <p:nvGraphicFramePr>
          <p:cNvPr id="6" name="Chart 0"/>
          <p:cNvGraphicFramePr/>
          <p:nvPr/>
        </p:nvGraphicFramePr>
        <p:xfrm>
          <a:off x="365760" y="1280160"/>
          <a:ext cx="512064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669280" y="1280160"/>
            <a:ext cx="3108960" cy="3474720"/>
          </a:xfrm>
          <a:prstGeom prst="rect">
            <a:avLst/>
          </a:prstGeom>
          <a:solidFill>
            <a:srgbClr val="0D1B2A">
              <a:alpha val="95000"/>
            </a:srgbClr>
          </a:solidFill>
          <a:ln w="12700">
            <a:solidFill>
              <a:srgbClr val="0A93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806440" y="13716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806440" y="1691640"/>
            <a:ext cx="2834640" cy="1828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806440" y="1783080"/>
            <a:ext cx="28346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dominates at 40%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(39,002 tickets)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Access is 2nd at 30%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(29,193) — resolves in just 0.3 days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is smallest (10%)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takes longest to resolve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Automate Login Access to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agents for harder cases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828800" cy="292608"/>
          </a:xfrm>
          <a:prstGeom prst="roundRect">
            <a:avLst>
              <a:gd name="adj" fmla="val 15625"/>
            </a:avLst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— RESOLUTION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Time by Category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2743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graphicFrame>
        <p:nvGraphicFramePr>
          <p:cNvPr id="6" name="Chart 0"/>
          <p:cNvGraphicFramePr/>
          <p:nvPr/>
        </p:nvGraphicFramePr>
        <p:xfrm>
          <a:off x="365760" y="1280160"/>
          <a:ext cx="512064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669280" y="1280160"/>
            <a:ext cx="3108960" cy="3474720"/>
          </a:xfrm>
          <a:prstGeom prst="rect">
            <a:avLst/>
          </a:prstGeom>
          <a:solidFill>
            <a:srgbClr val="0D1B2A">
              <a:alpha val="95000"/>
            </a:srgbClr>
          </a:solidFill>
          <a:ln w="12700">
            <a:solidFill>
              <a:srgbClr val="0A93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806440" y="13716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806440" y="1691640"/>
            <a:ext cx="2834640" cy="1828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806440" y="1783080"/>
            <a:ext cx="28346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= biggest bottleneck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7.62 days avg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issues take 6.62 days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highest volume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Access resolves in 0.31 days — 24x faster than Hardware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Investing in Hardware tools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highest ROI potential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828800" cy="292608"/>
          </a:xfrm>
          <a:prstGeom prst="roundRect">
            <a:avLst>
              <a:gd name="adj" fmla="val 15625"/>
            </a:avLst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— AGENTS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Performance Analysis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2743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graphicFrame>
        <p:nvGraphicFramePr>
          <p:cNvPr id="6" name="Chart 0"/>
          <p:cNvGraphicFramePr/>
          <p:nvPr/>
        </p:nvGraphicFramePr>
        <p:xfrm>
          <a:off x="365760" y="1280160"/>
          <a:ext cx="512064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669280" y="1280160"/>
            <a:ext cx="3108960" cy="3474720"/>
          </a:xfrm>
          <a:prstGeom prst="rect">
            <a:avLst/>
          </a:prstGeom>
          <a:solidFill>
            <a:srgbClr val="0D1B2A">
              <a:alpha val="95000"/>
            </a:srgbClr>
          </a:solidFill>
          <a:ln w="12700">
            <a:solidFill>
              <a:srgbClr val="0A93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806440" y="13716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806440" y="1691640"/>
            <a:ext cx="2834640" cy="1828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806440" y="1783080"/>
            <a:ext cx="28346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avg CSAT: 4.1 / 5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performers: Jesus Contreras, Aurelio Tanori &amp; Elena Velez — high speed + satisfaction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needing support: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Alfonso Barraza, A. Trejo &amp; Nurio Zepeda fall below 3.5 satisfaction-to-resolution ratio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2-week targeted training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bottom 5 agents recommended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828800" cy="292608"/>
          </a:xfrm>
          <a:prstGeom prst="roundRect">
            <a:avLst>
              <a:gd name="adj" fmla="val 15625"/>
            </a:avLst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— ISSUE TYPE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Error vs IT Request Split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2743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graphicFrame>
        <p:nvGraphicFramePr>
          <p:cNvPr id="6" name="Chart 0"/>
          <p:cNvGraphicFramePr/>
          <p:nvPr/>
        </p:nvGraphicFramePr>
        <p:xfrm>
          <a:off x="365760" y="1280160"/>
          <a:ext cx="512064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669280" y="1280160"/>
            <a:ext cx="3108960" cy="3474720"/>
          </a:xfrm>
          <a:prstGeom prst="rect">
            <a:avLst/>
          </a:prstGeom>
          <a:solidFill>
            <a:srgbClr val="0D1B2A">
              <a:alpha val="95000"/>
            </a:srgbClr>
          </a:solidFill>
          <a:ln w="12700">
            <a:solidFill>
              <a:srgbClr val="0A93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806440" y="13716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806440" y="1691640"/>
            <a:ext cx="2834640" cy="1828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806440" y="1783080"/>
            <a:ext cx="28346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 are IT Requests (73,220)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mostly routine in nature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are IT Errors (24,278)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high priority, technical failures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likely drive longer resolution times and lower CSAT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Self-service portal can deflect routine IT Requests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828800" cy="292608"/>
          </a:xfrm>
          <a:prstGeom prst="roundRect">
            <a:avLst>
              <a:gd name="adj" fmla="val 15625"/>
            </a:avLst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— SATISFACTION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Satisfaction Trend (CSAT)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2743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graphicFrame>
        <p:nvGraphicFramePr>
          <p:cNvPr id="6" name="Chart 0"/>
          <p:cNvGraphicFramePr/>
          <p:nvPr/>
        </p:nvGraphicFramePr>
        <p:xfrm>
          <a:off x="365760" y="1280160"/>
          <a:ext cx="512064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669280" y="1280160"/>
            <a:ext cx="3108960" cy="3474720"/>
          </a:xfrm>
          <a:prstGeom prst="rect">
            <a:avLst/>
          </a:prstGeom>
          <a:solidFill>
            <a:srgbClr val="0D1B2A">
              <a:alpha val="95000"/>
            </a:srgbClr>
          </a:solidFill>
          <a:ln w="12700">
            <a:solidFill>
              <a:srgbClr val="0A93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806440" y="13716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806440" y="1691640"/>
            <a:ext cx="2834640" cy="1828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806440" y="1783080"/>
            <a:ext cx="28346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year-on-year improvement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3.98 → 4.16 CSAT (+4.5%)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5 years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handled double the work with better quality — sign of improving processes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Target: 4.2+ CSAT via training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automation investment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828800" cy="292608"/>
          </a:xfrm>
          <a:prstGeom prst="roundRect">
            <a:avLst>
              <a:gd name="adj" fmla="val 15625"/>
            </a:avLst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&amp; Conclusion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2743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17320"/>
            <a:ext cx="2651760" cy="3200400"/>
          </a:xfrm>
          <a:prstGeom prst="rect">
            <a:avLst/>
          </a:prstGeom>
          <a:solidFill>
            <a:srgbClr val="007F83"/>
          </a:solidFill>
          <a:ln w="12700">
            <a:solidFill>
              <a:srgbClr val="0A9396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5488" y="1554480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Invest in Hardware Tools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" y="2075688"/>
            <a:ext cx="2432304" cy="27432"/>
          </a:xfrm>
          <a:prstGeom prst="rect">
            <a:avLst/>
          </a:prstGeom>
          <a:solidFill>
            <a:srgbClr val="94D2BD"/>
          </a:solidFill>
          <a:ln w="12700">
            <a:solidFill>
              <a:srgbClr val="94D2B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2167128"/>
            <a:ext cx="243230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tickets take 7.62 days on avg — the longest of any category. Upgrading diagnostic software &amp; spare parts inventory can cut this significantly.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417320"/>
            <a:ext cx="2651760" cy="3200400"/>
          </a:xfrm>
          <a:prstGeom prst="rect">
            <a:avLst/>
          </a:prstGeom>
          <a:solidFill>
            <a:srgbClr val="007F83"/>
          </a:solidFill>
          <a:ln w="12700">
            <a:solidFill>
              <a:srgbClr val="0A9396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10128" y="1554480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Automate Login Access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310128" y="2075688"/>
            <a:ext cx="2432304" cy="27432"/>
          </a:xfrm>
          <a:prstGeom prst="rect">
            <a:avLst/>
          </a:prstGeom>
          <a:solidFill>
            <a:srgbClr val="94D2BD"/>
          </a:solidFill>
          <a:ln w="12700">
            <a:solidFill>
              <a:srgbClr val="94D2B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0128" y="2167128"/>
            <a:ext cx="243230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29,193 Login Access tickets/year resolve in 0.31 days. An automated password reset portal can free up hundreds of agent hours annually.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1417320"/>
            <a:ext cx="2651760" cy="3200400"/>
          </a:xfrm>
          <a:prstGeom prst="rect">
            <a:avLst/>
          </a:prstGeom>
          <a:solidFill>
            <a:srgbClr val="007F83"/>
          </a:solidFill>
          <a:ln w="12700">
            <a:solidFill>
              <a:srgbClr val="0A9396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44768" y="1554480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Train Low-Performing Agents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44768" y="2075688"/>
            <a:ext cx="2432304" cy="27432"/>
          </a:xfrm>
          <a:prstGeom prst="rect">
            <a:avLst/>
          </a:prstGeom>
          <a:solidFill>
            <a:srgbClr val="94D2BD"/>
          </a:solidFill>
          <a:ln w="12700">
            <a:solidFill>
              <a:srgbClr val="94D2B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44768" y="2167128"/>
            <a:ext cx="243230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6, 19 &amp; 25 have the lowest satisfaction-to-resolution ratio. A 2-week targeted training + peer mentoring program can bring them to team standards.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97,498 tickets  ·  4.1/5 CSAT  ·  4.55 days avg resolution  ·  50 agents  ·  2016–2020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828800" cy="292608"/>
          </a:xfrm>
          <a:prstGeom prst="roundRect">
            <a:avLst>
              <a:gd name="adj" fmla="val 15625"/>
            </a:avLst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2743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solidFill>
            <a:srgbClr val="007F83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Slicers: Request Category  ·  Severity  ·  Priority  ·  Issue Type  ·  Year (Fecha)  —  Built in Microsoft Excel</a:t>
            </a:r>
            <a:endParaRPr lang="en-US" sz="10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16017A8-C5D7-A647-0B66-131AE1A578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920" y="1441704"/>
            <a:ext cx="7421880" cy="299618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007F83"/>
          </a:solidFill>
          <a:ln w="12700">
            <a:solidFill>
              <a:srgbClr val="007F8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8872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2926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Rishabh Singh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42062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IT Ticket Service Desk Dataset (2016–2020)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648</Words>
  <Application>Microsoft Office PowerPoint</Application>
  <PresentationFormat>On-screen Show (16:9)</PresentationFormat>
  <Paragraphs>121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 Service Desk Analytics Report</dc:title>
  <dc:subject>PptxGenJS Presentation</dc:subject>
  <dc:creator>Rishabh Singh</dc:creator>
  <cp:lastModifiedBy>ANKUR KUMAR</cp:lastModifiedBy>
  <cp:revision>5</cp:revision>
  <dcterms:created xsi:type="dcterms:W3CDTF">2026-05-25T10:04:56Z</dcterms:created>
  <dcterms:modified xsi:type="dcterms:W3CDTF">2026-06-26T18:10:30Z</dcterms:modified>
</cp:coreProperties>
</file>